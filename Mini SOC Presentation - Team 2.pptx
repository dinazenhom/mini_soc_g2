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68" r:id="rId3"/>
    <p:sldId id="274" r:id="rId4"/>
    <p:sldId id="275" r:id="rId5"/>
    <p:sldId id="257" r:id="rId6"/>
    <p:sldId id="258" r:id="rId7"/>
    <p:sldId id="262" r:id="rId8"/>
    <p:sldId id="276" r:id="rId9"/>
    <p:sldId id="259" r:id="rId10"/>
    <p:sldId id="261" r:id="rId11"/>
    <p:sldId id="269" r:id="rId12"/>
    <p:sldId id="264" r:id="rId13"/>
    <p:sldId id="265" r:id="rId14"/>
    <p:sldId id="270" r:id="rId15"/>
    <p:sldId id="266" r:id="rId16"/>
    <p:sldId id="272" r:id="rId17"/>
    <p:sldId id="271" r:id="rId18"/>
    <p:sldId id="273" r:id="rId19"/>
    <p:sldId id="267" r:id="rId20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Inter SemiBold" panose="020B0604020202020204" charset="0"/>
      <p:regular r:id="rId30"/>
      <p:bold r:id="rId31"/>
      <p:italic r:id="rId32"/>
      <p:boldItalic r:id="rId33"/>
    </p:embeddedFont>
    <p:embeddedFont>
      <p:font typeface="Urbanist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DF9233-D197-4AD3-9675-591A4A465D1B}">
  <a:tblStyle styleId="{D3DF9233-D197-4AD3-9675-591A4A465D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4660"/>
  </p:normalViewPr>
  <p:slideViewPr>
    <p:cSldViewPr snapToGrid="0">
      <p:cViewPr varScale="1">
        <p:scale>
          <a:sx n="78" d="100"/>
          <a:sy n="78" d="100"/>
        </p:scale>
        <p:origin x="336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0964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3250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9059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5478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2843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3897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51149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8934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7981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7.sv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38.svg"/><Relationship Id="rId5" Type="http://schemas.openxmlformats.org/officeDocument/2006/relationships/image" Target="../media/image41.png"/><Relationship Id="rId10" Type="http://schemas.openxmlformats.org/officeDocument/2006/relationships/image" Target="../media/image37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jpe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93739"/>
            <a:ext cx="11601600" cy="17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Building &amp; Operating a Mini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Security Operations Center </a:t>
            </a:r>
            <a:r>
              <a:rPr lang="en-US" sz="5400" b="1" dirty="0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(SOC)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04713" y="4555461"/>
            <a:ext cx="117825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Centralized Security Monitoring &amp; Threat Detection System | Team </a:t>
            </a:r>
            <a:r>
              <a:rPr lang="ar-EG" sz="16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| DEPI</a:t>
            </a:r>
            <a:r>
              <a:rPr lang="ar-EG" sz="16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(Information Security Analyst)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2026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8728" y="-240658"/>
            <a:ext cx="12360728" cy="7175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2680" y="1404937"/>
            <a:ext cx="4578033" cy="74152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292681" y="1660802"/>
            <a:ext cx="43480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Mohamed Abdallah Ahmed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F8FAFC"/>
                </a:solidFill>
                <a:latin typeface="Urbanist"/>
                <a:ea typeface="Urbanist"/>
                <a:sym typeface="Urbanist"/>
              </a:rPr>
              <a:t>Our Team</a:t>
            </a:r>
            <a:endParaRPr dirty="0"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92;p14" descr="image.png">
            <a:extLst>
              <a:ext uri="{FF2B5EF4-FFF2-40B4-BE49-F238E27FC236}">
                <a16:creationId xmlns:a16="http://schemas.microsoft.com/office/drawing/2014/main" id="{3CB0B96E-7DE0-4CBC-9249-CA9A4C87CC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84700" y="2984681"/>
            <a:ext cx="3716697" cy="16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98;p14">
            <a:extLst>
              <a:ext uri="{FF2B5EF4-FFF2-40B4-BE49-F238E27FC236}">
                <a16:creationId xmlns:a16="http://schemas.microsoft.com/office/drawing/2014/main" id="{59F2C502-6055-4FD5-9461-6B760D34B3A9}"/>
              </a:ext>
            </a:extLst>
          </p:cNvPr>
          <p:cNvSpPr txBox="1"/>
          <p:nvPr/>
        </p:nvSpPr>
        <p:spPr>
          <a:xfrm>
            <a:off x="7325315" y="3240546"/>
            <a:ext cx="397133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Supervised by:</a:t>
            </a:r>
            <a:b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</a:br>
            <a:b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Osama </a:t>
            </a:r>
            <a:r>
              <a:rPr lang="en-US" sz="2400" b="1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Abdelazim</a:t>
            </a:r>
            <a:endParaRPr dirty="0"/>
          </a:p>
        </p:txBody>
      </p:sp>
      <p:pic>
        <p:nvPicPr>
          <p:cNvPr id="31" name="Google Shape;92;p14" descr="image.png">
            <a:extLst>
              <a:ext uri="{FF2B5EF4-FFF2-40B4-BE49-F238E27FC236}">
                <a16:creationId xmlns:a16="http://schemas.microsoft.com/office/drawing/2014/main" id="{22042331-4A0B-45BC-AF13-2A1DCBA543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2680" y="2374516"/>
            <a:ext cx="4578033" cy="74152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13D204F-2C10-4815-B314-8EB669273E83}"/>
              </a:ext>
            </a:extLst>
          </p:cNvPr>
          <p:cNvSpPr txBox="1"/>
          <p:nvPr/>
        </p:nvSpPr>
        <p:spPr>
          <a:xfrm>
            <a:off x="1417671" y="2527728"/>
            <a:ext cx="2971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Dina</a:t>
            </a:r>
            <a:r>
              <a:rPr lang="en-US" dirty="0"/>
              <a:t> </a:t>
            </a: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Essam Fathy</a:t>
            </a:r>
            <a:endParaRPr lang="en-US" dirty="0"/>
          </a:p>
        </p:txBody>
      </p:sp>
      <p:pic>
        <p:nvPicPr>
          <p:cNvPr id="33" name="Google Shape;92;p14" descr="image.png">
            <a:extLst>
              <a:ext uri="{FF2B5EF4-FFF2-40B4-BE49-F238E27FC236}">
                <a16:creationId xmlns:a16="http://schemas.microsoft.com/office/drawing/2014/main" id="{4154FDB1-4CA0-4CE4-8AAF-77B5F47E0A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2679" y="3347021"/>
            <a:ext cx="4578033" cy="741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92;p14" descr="image.png">
            <a:extLst>
              <a:ext uri="{FF2B5EF4-FFF2-40B4-BE49-F238E27FC236}">
                <a16:creationId xmlns:a16="http://schemas.microsoft.com/office/drawing/2014/main" id="{DEE227AC-0647-4827-9083-E5D7A2E108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4990" y="5344865"/>
            <a:ext cx="4578033" cy="741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92;p14" descr="image.png">
            <a:extLst>
              <a:ext uri="{FF2B5EF4-FFF2-40B4-BE49-F238E27FC236}">
                <a16:creationId xmlns:a16="http://schemas.microsoft.com/office/drawing/2014/main" id="{E11BE6CE-362D-4FFE-9254-BDE1FB7C97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4990" y="4316600"/>
            <a:ext cx="4578033" cy="74152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98;p14">
            <a:extLst>
              <a:ext uri="{FF2B5EF4-FFF2-40B4-BE49-F238E27FC236}">
                <a16:creationId xmlns:a16="http://schemas.microsoft.com/office/drawing/2014/main" id="{E36C95DB-B307-4D74-9A60-069624A028BC}"/>
              </a:ext>
            </a:extLst>
          </p:cNvPr>
          <p:cNvSpPr txBox="1"/>
          <p:nvPr/>
        </p:nvSpPr>
        <p:spPr>
          <a:xfrm>
            <a:off x="1274990" y="3533119"/>
            <a:ext cx="29710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Karim Nagi Hassan </a:t>
            </a:r>
            <a:endParaRPr dirty="0"/>
          </a:p>
        </p:txBody>
      </p:sp>
      <p:sp>
        <p:nvSpPr>
          <p:cNvPr id="38" name="Google Shape;98;p14">
            <a:extLst>
              <a:ext uri="{FF2B5EF4-FFF2-40B4-BE49-F238E27FC236}">
                <a16:creationId xmlns:a16="http://schemas.microsoft.com/office/drawing/2014/main" id="{29E600C3-1BB3-4011-85FD-D9A0F44ACE9D}"/>
              </a:ext>
            </a:extLst>
          </p:cNvPr>
          <p:cNvSpPr txBox="1"/>
          <p:nvPr/>
        </p:nvSpPr>
        <p:spPr>
          <a:xfrm>
            <a:off x="1292679" y="4502698"/>
            <a:ext cx="35308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Mohamed Ashraf Fathy</a:t>
            </a:r>
            <a:endParaRPr dirty="0"/>
          </a:p>
        </p:txBody>
      </p:sp>
      <p:sp>
        <p:nvSpPr>
          <p:cNvPr id="40" name="Google Shape;98;p14">
            <a:extLst>
              <a:ext uri="{FF2B5EF4-FFF2-40B4-BE49-F238E27FC236}">
                <a16:creationId xmlns:a16="http://schemas.microsoft.com/office/drawing/2014/main" id="{7C665E92-DF25-4964-83CB-F6CD324F6FEC}"/>
              </a:ext>
            </a:extLst>
          </p:cNvPr>
          <p:cNvSpPr txBox="1"/>
          <p:nvPr/>
        </p:nvSpPr>
        <p:spPr>
          <a:xfrm>
            <a:off x="1417671" y="5544591"/>
            <a:ext cx="29710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Zeyad</a:t>
            </a: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400" b="1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Rafaat</a:t>
            </a: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Kamal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618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5315" y="0"/>
            <a:ext cx="123199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71500" y="2138362"/>
            <a:ext cx="5286375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Security Operations Center (SOC) is a centralized function responsible for continuously monitoring, detecting, and responding to security threats across the organization.</a:t>
            </a:r>
          </a:p>
        </p:txBody>
      </p:sp>
      <p:sp>
        <p:nvSpPr>
          <p:cNvPr id="227" name="Google Shape;227;p21"/>
          <p:cNvSpPr txBox="1"/>
          <p:nvPr/>
        </p:nvSpPr>
        <p:spPr>
          <a:xfrm>
            <a:off x="904875" y="3485772"/>
            <a:ext cx="48958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People: Security analysts who monitor, investigate, and respond to incidents.</a:t>
            </a:r>
          </a:p>
        </p:txBody>
      </p:sp>
      <p:sp>
        <p:nvSpPr>
          <p:cNvPr id="228" name="Google Shape;228;p21"/>
          <p:cNvSpPr txBox="1"/>
          <p:nvPr/>
        </p:nvSpPr>
        <p:spPr>
          <a:xfrm>
            <a:off x="904875" y="4315467"/>
            <a:ext cx="48958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Process: Structured workflows for triage, analysis, and incident response.</a:t>
            </a:r>
          </a:p>
        </p:txBody>
      </p:sp>
      <p:sp>
        <p:nvSpPr>
          <p:cNvPr id="229" name="Google Shape;229;p21"/>
          <p:cNvSpPr txBox="1"/>
          <p:nvPr/>
        </p:nvSpPr>
        <p:spPr>
          <a:xfrm>
            <a:off x="904874" y="5202312"/>
            <a:ext cx="534352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Technology: Tools like SIEM, EDR, and</a:t>
            </a:r>
            <a:r>
              <a:rPr lang="ar-EG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automation/orchestration platforms.</a:t>
            </a:r>
          </a:p>
        </p:txBody>
      </p:sp>
      <p:sp>
        <p:nvSpPr>
          <p:cNvPr id="233" name="Google Shape;233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SOC: People, Process, Technology</a:t>
            </a:r>
          </a:p>
        </p:txBody>
      </p:sp>
      <p:sp>
        <p:nvSpPr>
          <p:cNvPr id="234" name="Google Shape;234;p21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2" descr="Brute force attack in progress">
            <a:extLst>
              <a:ext uri="{FF2B5EF4-FFF2-40B4-BE49-F238E27FC236}">
                <a16:creationId xmlns:a16="http://schemas.microsoft.com/office/drawing/2014/main" id="{B0DB1AF3-3CF6-40CE-A91B-8A13D9C3F5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Graphic 4" descr="Users">
            <a:extLst>
              <a:ext uri="{FF2B5EF4-FFF2-40B4-BE49-F238E27FC236}">
                <a16:creationId xmlns:a16="http://schemas.microsoft.com/office/drawing/2014/main" id="{78463520-CB25-4034-8CB0-7A4338EA9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512" y="3406824"/>
            <a:ext cx="334583" cy="373559"/>
          </a:xfrm>
          <a:prstGeom prst="rect">
            <a:avLst/>
          </a:prstGeom>
        </p:spPr>
      </p:pic>
      <p:pic>
        <p:nvPicPr>
          <p:cNvPr id="9" name="Graphic 8" descr="Gears">
            <a:extLst>
              <a:ext uri="{FF2B5EF4-FFF2-40B4-BE49-F238E27FC236}">
                <a16:creationId xmlns:a16="http://schemas.microsoft.com/office/drawing/2014/main" id="{FCE76F71-3054-4E68-8801-5E212C65FE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512" y="4322630"/>
            <a:ext cx="325920" cy="325920"/>
          </a:xfrm>
          <a:prstGeom prst="rect">
            <a:avLst/>
          </a:prstGeom>
        </p:spPr>
      </p:pic>
      <p:pic>
        <p:nvPicPr>
          <p:cNvPr id="13" name="Graphic 12" descr="Research">
            <a:extLst>
              <a:ext uri="{FF2B5EF4-FFF2-40B4-BE49-F238E27FC236}">
                <a16:creationId xmlns:a16="http://schemas.microsoft.com/office/drawing/2014/main" id="{B006A5B5-59C8-4786-9618-3A3A516074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662" y="5216621"/>
            <a:ext cx="322488" cy="3224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79B990-B574-4112-A44E-6F26F52431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7318" y="1900963"/>
            <a:ext cx="5982791" cy="42467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00B05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850968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3954" y="0"/>
            <a:ext cx="123199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95312" y="1378905"/>
            <a:ext cx="5286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SIEM (</a:t>
            </a:r>
            <a:r>
              <a:rPr lang="en-US" dirty="0">
                <a:solidFill>
                  <a:srgbClr val="22C55E"/>
                </a:solidFill>
                <a:latin typeface="Inter"/>
                <a:ea typeface="Inter"/>
                <a:sym typeface="Inter"/>
              </a:rPr>
              <a:t>Security Information and Event Management</a:t>
            </a:r>
            <a:r>
              <a:rPr lang="en-US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is a cybersecurity solution that collects, analyzes and correlates logs and security events from multiple systems in real time to detect threats, investigate incidents and support fast and effective response.</a:t>
            </a:r>
          </a:p>
        </p:txBody>
      </p:sp>
      <p:sp>
        <p:nvSpPr>
          <p:cNvPr id="227" name="Google Shape;227;p21"/>
          <p:cNvSpPr txBox="1"/>
          <p:nvPr/>
        </p:nvSpPr>
        <p:spPr>
          <a:xfrm>
            <a:off x="904874" y="3185711"/>
            <a:ext cx="48958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Collection: Gathering logs and events from all assets and systems across the environment.</a:t>
            </a:r>
          </a:p>
        </p:txBody>
      </p:sp>
      <p:sp>
        <p:nvSpPr>
          <p:cNvPr id="228" name="Google Shape;228;p21"/>
          <p:cNvSpPr txBox="1"/>
          <p:nvPr/>
        </p:nvSpPr>
        <p:spPr>
          <a:xfrm>
            <a:off x="904874" y="3979847"/>
            <a:ext cx="48958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Normalization: Standardizing and organizing data into a common format (ECS format).</a:t>
            </a:r>
          </a:p>
        </p:txBody>
      </p:sp>
      <p:sp>
        <p:nvSpPr>
          <p:cNvPr id="229" name="Google Shape;229;p21"/>
          <p:cNvSpPr txBox="1"/>
          <p:nvPr/>
        </p:nvSpPr>
        <p:spPr>
          <a:xfrm>
            <a:off x="902152" y="5570705"/>
            <a:ext cx="48958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Alerting: Notifying analysts of potential threats for investigation and response.</a:t>
            </a:r>
          </a:p>
        </p:txBody>
      </p:sp>
      <p:sp>
        <p:nvSpPr>
          <p:cNvPr id="233" name="Google Shape;233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SIEM: The Brain of the SOC</a:t>
            </a:r>
          </a:p>
        </p:txBody>
      </p:sp>
      <p:sp>
        <p:nvSpPr>
          <p:cNvPr id="234" name="Google Shape;234;p21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2" descr="Brute force attack in progress">
            <a:extLst>
              <a:ext uri="{FF2B5EF4-FFF2-40B4-BE49-F238E27FC236}">
                <a16:creationId xmlns:a16="http://schemas.microsoft.com/office/drawing/2014/main" id="{B0DB1AF3-3CF6-40CE-A91B-8A13D9C3F5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29;p21">
            <a:extLst>
              <a:ext uri="{FF2B5EF4-FFF2-40B4-BE49-F238E27FC236}">
                <a16:creationId xmlns:a16="http://schemas.microsoft.com/office/drawing/2014/main" id="{6D58FE5B-3722-46C8-84B5-8282DD58FECA}"/>
              </a:ext>
            </a:extLst>
          </p:cNvPr>
          <p:cNvSpPr txBox="1"/>
          <p:nvPr/>
        </p:nvSpPr>
        <p:spPr>
          <a:xfrm>
            <a:off x="904874" y="4775276"/>
            <a:ext cx="48958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Correlation: Connecting dots between to identify patterns and suspicious activity.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22951C-3800-429B-935C-53AF36915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72882"/>
            <a:ext cx="5957335" cy="3801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00B050"/>
            </a:solidFill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58ACC0-ACB3-4D69-AB47-B5E818897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5273592"/>
            <a:ext cx="5957335" cy="9571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noFill/>
          </a:ln>
          <a:effectLst/>
        </p:spPr>
      </p:pic>
      <p:pic>
        <p:nvPicPr>
          <p:cNvPr id="10" name="Graphic 9" descr="Database">
            <a:extLst>
              <a:ext uri="{FF2B5EF4-FFF2-40B4-BE49-F238E27FC236}">
                <a16:creationId xmlns:a16="http://schemas.microsoft.com/office/drawing/2014/main" id="{2EABBB3D-4AC5-4282-9AED-32C7F55627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331" y="3979847"/>
            <a:ext cx="270637" cy="270637"/>
          </a:xfrm>
          <a:prstGeom prst="rect">
            <a:avLst/>
          </a:prstGeom>
        </p:spPr>
      </p:pic>
      <p:pic>
        <p:nvPicPr>
          <p:cNvPr id="12" name="Graphic 11" descr="User network">
            <a:extLst>
              <a:ext uri="{FF2B5EF4-FFF2-40B4-BE49-F238E27FC236}">
                <a16:creationId xmlns:a16="http://schemas.microsoft.com/office/drawing/2014/main" id="{492A7EB3-0911-4290-8063-32036698AB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947" y="4767411"/>
            <a:ext cx="319489" cy="319489"/>
          </a:xfrm>
          <a:prstGeom prst="rect">
            <a:avLst/>
          </a:prstGeom>
        </p:spPr>
      </p:pic>
      <p:pic>
        <p:nvPicPr>
          <p:cNvPr id="19" name="Graphic 18" descr="Warning">
            <a:extLst>
              <a:ext uri="{FF2B5EF4-FFF2-40B4-BE49-F238E27FC236}">
                <a16:creationId xmlns:a16="http://schemas.microsoft.com/office/drawing/2014/main" id="{971B4AFB-2095-451B-B022-7BE277A2CE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7134" y="5570705"/>
            <a:ext cx="242607" cy="242607"/>
          </a:xfrm>
          <a:prstGeom prst="rect">
            <a:avLst/>
          </a:prstGeom>
        </p:spPr>
      </p:pic>
      <p:pic>
        <p:nvPicPr>
          <p:cNvPr id="21" name="Graphic 20" descr="Document">
            <a:extLst>
              <a:ext uri="{FF2B5EF4-FFF2-40B4-BE49-F238E27FC236}">
                <a16:creationId xmlns:a16="http://schemas.microsoft.com/office/drawing/2014/main" id="{7FF29FAF-C4A1-43EE-B58B-8011338E26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3249" y="3182489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00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7937"/>
            <a:ext cx="2547937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47937"/>
            <a:ext cx="2547937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547937"/>
            <a:ext cx="2547937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547937"/>
            <a:ext cx="2547937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7834" y="3452812"/>
            <a:ext cx="215526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Intro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819150" y="4005262"/>
            <a:ext cx="2052637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Overview, Problem Statement and Core Objectives.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3601521" y="3452812"/>
            <a:ext cx="215526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652837" y="4005262"/>
            <a:ext cx="2052637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Network Topology, VM Inventory and Monitoring Stack.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435209" y="3452812"/>
            <a:ext cx="215526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Cases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312693" y="3895003"/>
            <a:ext cx="24003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Brute Force, PowerShell, USB Attack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transfer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windows reconnaissance commands attack.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268896" y="3452812"/>
            <a:ext cx="215526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Analysis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320212" y="4005262"/>
            <a:ext cx="2052637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Risk Assessment, KPIs and Final Recommendations.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4968" y="28336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41031" y="28336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22343" y="28336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56031" y="28336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Presentation Agenda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-459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2579" y="1369556"/>
            <a:ext cx="5317672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2830" y="1343040"/>
            <a:ext cx="5365295" cy="238009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19150" y="1664831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Problem Statement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2218983"/>
            <a:ext cx="4987766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Traditional Security architectures suffer from fragmented visibility and siloed logging. Without centralized correlation, detecting sophisticated lateral movement or credential access becomes a manual, slow and error-prone process.</a:t>
            </a:r>
            <a:endParaRPr lang="en-US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6677025" y="1638315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Primary Objectives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677025" y="2145298"/>
            <a:ext cx="4930616" cy="1558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establish a proactive defense posture by automating threat detection. Our goal is to map simulated attacks to the MITRE ATT&amp;CK framework, reduce dwell time through real-time alerting, and streamline the incident investigation workflow.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Overview &amp; Objectives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15;p15" descr="image.png">
            <a:extLst>
              <a:ext uri="{FF2B5EF4-FFF2-40B4-BE49-F238E27FC236}">
                <a16:creationId xmlns:a16="http://schemas.microsoft.com/office/drawing/2014/main" id="{D4624DED-D446-4608-81C4-A1962A6C0E4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227" y="4073979"/>
            <a:ext cx="11175546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17;p15">
            <a:extLst>
              <a:ext uri="{FF2B5EF4-FFF2-40B4-BE49-F238E27FC236}">
                <a16:creationId xmlns:a16="http://schemas.microsoft.com/office/drawing/2014/main" id="{9A224AA8-7D95-4BDA-B199-94DAC7AC5CF5}"/>
              </a:ext>
            </a:extLst>
          </p:cNvPr>
          <p:cNvSpPr txBox="1"/>
          <p:nvPr/>
        </p:nvSpPr>
        <p:spPr>
          <a:xfrm>
            <a:off x="1165384" y="4333469"/>
            <a:ext cx="49306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Overview</a:t>
            </a:r>
            <a:endParaRPr dirty="0"/>
          </a:p>
        </p:txBody>
      </p:sp>
      <p:sp>
        <p:nvSpPr>
          <p:cNvPr id="14" name="Google Shape;118;p15">
            <a:extLst>
              <a:ext uri="{FF2B5EF4-FFF2-40B4-BE49-F238E27FC236}">
                <a16:creationId xmlns:a16="http://schemas.microsoft.com/office/drawing/2014/main" id="{5BB234C4-0DF6-48BE-8AAB-75FABC1E7638}"/>
              </a:ext>
            </a:extLst>
          </p:cNvPr>
          <p:cNvSpPr txBox="1"/>
          <p:nvPr/>
        </p:nvSpPr>
        <p:spPr>
          <a:xfrm>
            <a:off x="1175658" y="4858260"/>
            <a:ext cx="9617528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project implements a containerized Mini-SOC infrastructure using </a:t>
            </a:r>
            <a:r>
              <a:rPr lang="en-US" sz="1350" dirty="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the Elastic Stack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(ELK). The environment integrates a Windows target machine with Elastic Agents to stream Security, System, and PowerShell logs through a dedicated pipeline for centralized indexing and analysis.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571500" y="3895725"/>
            <a:ext cx="110490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1727820" y="37576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07968" y="2943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Week 1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71500" y="3600450"/>
            <a:ext cx="25412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Environment Setup: Docker deployment of Elastic Stack and Fleet Server configuration.</a:t>
            </a:r>
            <a:endParaRPr dirty="0"/>
          </a:p>
        </p:txBody>
      </p:sp>
      <p:sp>
        <p:nvSpPr>
          <p:cNvPr id="196" name="Google Shape;196;p19"/>
          <p:cNvSpPr/>
          <p:nvPr/>
        </p:nvSpPr>
        <p:spPr>
          <a:xfrm>
            <a:off x="4563740" y="37576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3343888" y="2943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Week 2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3407419" y="36004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Log Ingestion: Windows Agent installation and log pipeline verification.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7399659" y="37576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6179808" y="2943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Week 3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243339" y="36004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Simulations: Executing Brute Force and PowerShell attacks; tuning detection rules.</a:t>
            </a:r>
            <a:endParaRPr dirty="0"/>
          </a:p>
        </p:txBody>
      </p:sp>
      <p:sp>
        <p:nvSpPr>
          <p:cNvPr id="202" name="Google Shape;202;p19"/>
          <p:cNvSpPr/>
          <p:nvPr/>
        </p:nvSpPr>
        <p:spPr>
          <a:xfrm>
            <a:off x="10235579" y="37576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9015728" y="294322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Week 4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079259" y="36004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Finalization: Dashboard creation, reporting, and SOC workflow validation.</a:t>
            </a:r>
            <a:endParaRPr dirty="0"/>
          </a:p>
        </p:txBody>
      </p:sp>
      <p:sp>
        <p:nvSpPr>
          <p:cNvPr id="205" name="Google Shape;205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Timeline &amp; Milestones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3479"/>
            <a:ext cx="12192000" cy="703761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VM Inventory &amp; Infrastructure</a:t>
            </a:r>
            <a:endParaRPr lang="en-US" sz="3600" dirty="0"/>
          </a:p>
        </p:txBody>
      </p:sp>
      <p:sp>
        <p:nvSpPr>
          <p:cNvPr id="206" name="Google Shape;206;p19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38FF96-71E8-4139-ABD0-51F374759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337" y="1355282"/>
            <a:ext cx="8352064" cy="4816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5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35570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1632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04875" y="2037670"/>
            <a:ext cx="4953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Acquisition: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Elastic Agent captures Windows Security, System, and PowerShell logs.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904875" y="2760209"/>
            <a:ext cx="4953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Log Processing: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Fleet Server coordinates agents while Logstash filters data into ECS format.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904875" y="3499074"/>
            <a:ext cx="4953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Storage: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Normalized logs are indexed instantly in Elasticsearch for fast retrieval.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904875" y="4197123"/>
            <a:ext cx="4953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Detection Engine: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Elastic Security analyzes events against real-world MITRE ATT&amp;CK rules</a:t>
            </a:r>
            <a:r>
              <a:rPr lang="ar-EG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" y="3572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162" y="2123436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Lab Architecture &amp; Data Flow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32;p16">
            <a:extLst>
              <a:ext uri="{FF2B5EF4-FFF2-40B4-BE49-F238E27FC236}">
                <a16:creationId xmlns:a16="http://schemas.microsoft.com/office/drawing/2014/main" id="{8D8DCC42-539B-47AB-AB5C-CBB3D6571384}"/>
              </a:ext>
            </a:extLst>
          </p:cNvPr>
          <p:cNvSpPr txBox="1"/>
          <p:nvPr/>
        </p:nvSpPr>
        <p:spPr>
          <a:xfrm>
            <a:off x="904875" y="4878840"/>
            <a:ext cx="4953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Alert Visualization: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SOC Analysts hunt threats and investigate event timelines in Kibana.</a:t>
            </a:r>
            <a:endParaRPr dirty="0"/>
          </a:p>
        </p:txBody>
      </p: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9CC67DC1-E051-4DEF-BD0A-F30DBB3DE4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333" y="2760548"/>
            <a:ext cx="338948" cy="338948"/>
          </a:xfrm>
          <a:prstGeom prst="rect">
            <a:avLst/>
          </a:prstGeom>
        </p:spPr>
      </p:pic>
      <p:pic>
        <p:nvPicPr>
          <p:cNvPr id="11" name="Graphic 10" descr="Magnifying glass">
            <a:extLst>
              <a:ext uri="{FF2B5EF4-FFF2-40B4-BE49-F238E27FC236}">
                <a16:creationId xmlns:a16="http://schemas.microsoft.com/office/drawing/2014/main" id="{EAAF4807-DC8A-4013-B6BC-7E35DD2827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752" y="4232433"/>
            <a:ext cx="289872" cy="289872"/>
          </a:xfrm>
          <a:prstGeom prst="rect">
            <a:avLst/>
          </a:prstGeom>
        </p:spPr>
      </p:pic>
      <p:pic>
        <p:nvPicPr>
          <p:cNvPr id="17" name="Graphic 16" descr="Presentation with pie chart">
            <a:extLst>
              <a:ext uri="{FF2B5EF4-FFF2-40B4-BE49-F238E27FC236}">
                <a16:creationId xmlns:a16="http://schemas.microsoft.com/office/drawing/2014/main" id="{0E6DEDEF-4B75-4433-A2B7-88654025DF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2038" y="4888994"/>
            <a:ext cx="338948" cy="3389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23674F-F214-49A6-8449-7D1A7E3F05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4574" y="1943097"/>
            <a:ext cx="5640161" cy="35677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00B050"/>
            </a:solidFill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6721"/>
            <a:ext cx="3492549" cy="2220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26721"/>
            <a:ext cx="3492549" cy="2220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4008656"/>
            <a:ext cx="3492549" cy="22036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44218" y="2342469"/>
            <a:ext cx="31471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Elastic Agent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819150" y="2894919"/>
            <a:ext cx="2997249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Endpoint log collection: Security, System, and PowerShell event logs.</a:t>
            </a:r>
            <a:endParaRPr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4522518" y="2309810"/>
            <a:ext cx="314711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Fleet Server</a:t>
            </a:r>
            <a:endParaRPr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4597449" y="2862260"/>
            <a:ext cx="299724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Centralized agent management and security policy deployment.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567001" y="4748548"/>
            <a:ext cx="314711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Elastic Security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4443663" y="5335694"/>
            <a:ext cx="330959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Detection Engine running rules mapped to MITRE ATT&amp;CK framework.</a:t>
            </a:r>
            <a:endParaRPr dirty="0"/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172334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169068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Detection &amp; Monitoring Stack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4;p18" descr="image.png">
            <a:extLst>
              <a:ext uri="{FF2B5EF4-FFF2-40B4-BE49-F238E27FC236}">
                <a16:creationId xmlns:a16="http://schemas.microsoft.com/office/drawing/2014/main" id="{B071911B-C647-4D56-8CAF-7BAC79A3772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8" y="1526721"/>
            <a:ext cx="3492549" cy="222068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78;p18">
            <a:extLst>
              <a:ext uri="{FF2B5EF4-FFF2-40B4-BE49-F238E27FC236}">
                <a16:creationId xmlns:a16="http://schemas.microsoft.com/office/drawing/2014/main" id="{A5BF03C0-5493-4925-B0E0-296F79744136}"/>
              </a:ext>
            </a:extLst>
          </p:cNvPr>
          <p:cNvSpPr txBox="1"/>
          <p:nvPr/>
        </p:nvSpPr>
        <p:spPr>
          <a:xfrm>
            <a:off x="8300817" y="2309810"/>
            <a:ext cx="31471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Elastic</a:t>
            </a:r>
            <a:r>
              <a:rPr lang="ar-EG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Search</a:t>
            </a:r>
            <a:endParaRPr lang="en-US" sz="2400" dirty="0"/>
          </a:p>
        </p:txBody>
      </p:sp>
      <p:sp>
        <p:nvSpPr>
          <p:cNvPr id="19" name="Google Shape;179;p18">
            <a:extLst>
              <a:ext uri="{FF2B5EF4-FFF2-40B4-BE49-F238E27FC236}">
                <a16:creationId xmlns:a16="http://schemas.microsoft.com/office/drawing/2014/main" id="{ECB66FEF-E4B1-4507-8924-024763B5C448}"/>
              </a:ext>
            </a:extLst>
          </p:cNvPr>
          <p:cNvSpPr txBox="1"/>
          <p:nvPr/>
        </p:nvSpPr>
        <p:spPr>
          <a:xfrm>
            <a:off x="8375748" y="2862260"/>
            <a:ext cx="2997249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storage, indexing and fast log search engine.</a:t>
            </a:r>
            <a:endParaRPr dirty="0"/>
          </a:p>
        </p:txBody>
      </p:sp>
      <p:pic>
        <p:nvPicPr>
          <p:cNvPr id="23" name="Google Shape;184;p18" descr="image.png">
            <a:extLst>
              <a:ext uri="{FF2B5EF4-FFF2-40B4-BE49-F238E27FC236}">
                <a16:creationId xmlns:a16="http://schemas.microsoft.com/office/drawing/2014/main" id="{6D58AFA1-2D09-4BC0-90CF-907223692F9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872" y="172028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73;p18" descr="image.png">
            <a:extLst>
              <a:ext uri="{FF2B5EF4-FFF2-40B4-BE49-F238E27FC236}">
                <a16:creationId xmlns:a16="http://schemas.microsoft.com/office/drawing/2014/main" id="{0C17F69D-6CAA-42EA-B8EE-F85B492ECC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91653"/>
            <a:ext cx="3492549" cy="222068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76;p18">
            <a:extLst>
              <a:ext uri="{FF2B5EF4-FFF2-40B4-BE49-F238E27FC236}">
                <a16:creationId xmlns:a16="http://schemas.microsoft.com/office/drawing/2014/main" id="{A48C8697-82A1-4B07-8369-9ECB11D16CAC}"/>
              </a:ext>
            </a:extLst>
          </p:cNvPr>
          <p:cNvSpPr txBox="1"/>
          <p:nvPr/>
        </p:nvSpPr>
        <p:spPr>
          <a:xfrm>
            <a:off x="744218" y="4807401"/>
            <a:ext cx="31471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Kibana</a:t>
            </a:r>
            <a:endParaRPr dirty="0"/>
          </a:p>
        </p:txBody>
      </p:sp>
      <p:sp>
        <p:nvSpPr>
          <p:cNvPr id="28" name="Google Shape;177;p18">
            <a:extLst>
              <a:ext uri="{FF2B5EF4-FFF2-40B4-BE49-F238E27FC236}">
                <a16:creationId xmlns:a16="http://schemas.microsoft.com/office/drawing/2014/main" id="{72040CDA-C555-4ECC-8E16-E50B5818801F}"/>
              </a:ext>
            </a:extLst>
          </p:cNvPr>
          <p:cNvSpPr txBox="1"/>
          <p:nvPr/>
        </p:nvSpPr>
        <p:spPr>
          <a:xfrm>
            <a:off x="819150" y="5359851"/>
            <a:ext cx="2997249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Visualization, dashboards and analyst visual interface.</a:t>
            </a:r>
            <a:endParaRPr dirty="0"/>
          </a:p>
        </p:txBody>
      </p:sp>
      <p:pic>
        <p:nvPicPr>
          <p:cNvPr id="5" name="Graphic 4" descr="Presentation with pie chart">
            <a:extLst>
              <a:ext uri="{FF2B5EF4-FFF2-40B4-BE49-F238E27FC236}">
                <a16:creationId xmlns:a16="http://schemas.microsoft.com/office/drawing/2014/main" id="{DB745765-6AC3-40C0-9030-EC97B6E67A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6117" y="4148140"/>
            <a:ext cx="563165" cy="563165"/>
          </a:xfrm>
          <a:prstGeom prst="rect">
            <a:avLst/>
          </a:prstGeom>
        </p:spPr>
      </p:pic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742B9D92-B186-4930-9CC3-734ACCBAFB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59733" y="4144223"/>
            <a:ext cx="529831" cy="5298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5315" y="0"/>
            <a:ext cx="123199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71500" y="2138362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Description: Multiple failed authentication attempts from a single source IP.</a:t>
            </a:r>
          </a:p>
        </p:txBody>
      </p:sp>
      <p:sp>
        <p:nvSpPr>
          <p:cNvPr id="227" name="Google Shape;227;p21"/>
          <p:cNvSpPr txBox="1"/>
          <p:nvPr/>
        </p:nvSpPr>
        <p:spPr>
          <a:xfrm>
            <a:off x="904875" y="3150732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MITRE: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T1110 - Brute Force.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904875" y="3624262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Detection: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Windows Event Code 4625 (Login Failure).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904874" y="4093704"/>
            <a:ext cx="534352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Alert: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Triggered when count ≥ 10 failed logins within 5 minutes.</a:t>
            </a:r>
            <a:endParaRPr dirty="0"/>
          </a:p>
        </p:txBody>
      </p:sp>
      <p:pic>
        <p:nvPicPr>
          <p:cNvPr id="230" name="Google Shape;23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8407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576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2704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Case 1: Brute Force</a:t>
            </a:r>
            <a:endParaRPr lang="en-US" sz="3600" dirty="0"/>
          </a:p>
        </p:txBody>
      </p:sp>
      <p:sp>
        <p:nvSpPr>
          <p:cNvPr id="234" name="Google Shape;234;p21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2" descr="Brute force attack in progress">
            <a:extLst>
              <a:ext uri="{FF2B5EF4-FFF2-40B4-BE49-F238E27FC236}">
                <a16:creationId xmlns:a16="http://schemas.microsoft.com/office/drawing/2014/main" id="{B0DB1AF3-3CF6-40CE-A91B-8A13D9C3F5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214D4-2410-4A8B-B448-5ED8B7D37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309" y="1647825"/>
            <a:ext cx="5595257" cy="39855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5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65230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71500" y="213836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Detection of malicious script execution using PowerShell commands, including encoded commands and hidden windows.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904875" y="3134402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MITRE: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T1059 - Command &amp; Scripting Interpreter.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904874" y="3656921"/>
            <a:ext cx="5544911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Detection: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Script block logging and command-line monitoring.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904875" y="415902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Alert: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High severity alert generated for -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EncodedCommand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usage.</a:t>
            </a:r>
            <a:endParaRPr dirty="0"/>
          </a:p>
        </p:txBody>
      </p:sp>
      <p:pic>
        <p:nvPicPr>
          <p:cNvPr id="230" name="Google Shape;23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6774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9025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9235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Case 2: PowerShell Attack</a:t>
            </a:r>
            <a:endParaRPr dirty="0"/>
          </a:p>
        </p:txBody>
      </p:sp>
      <p:sp>
        <p:nvSpPr>
          <p:cNvPr id="234" name="Google Shape;234;p21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CBECB-A5D1-475A-B205-E8AC48C9F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415" y="1702819"/>
            <a:ext cx="5699864" cy="39795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50"/>
            </a:solidFill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571500" y="213836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Monitoring unauthorized data transfer via removable storage devices to prevent data exfiltration.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904875" y="306908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MITRE: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T1052 - Exfiltration Over Physical Medium.</a:t>
            </a:r>
            <a:endParaRPr dirty="0"/>
          </a:p>
        </p:txBody>
      </p:sp>
      <p:sp>
        <p:nvSpPr>
          <p:cNvPr id="244" name="Google Shape;244;p22"/>
          <p:cNvSpPr txBox="1"/>
          <p:nvPr/>
        </p:nvSpPr>
        <p:spPr>
          <a:xfrm>
            <a:off x="904875" y="3558947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Detection: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Monitoring USB insertion events and file copy operations.</a:t>
            </a:r>
            <a:endParaRPr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904875" y="423250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Policy-based restriction and logging of device serial numbers.</a:t>
            </a:r>
            <a:endParaRPr dirty="0"/>
          </a:p>
        </p:txBody>
      </p:sp>
      <p:pic>
        <p:nvPicPr>
          <p:cNvPr id="246" name="Google Shape;24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0242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9228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6583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Case 3: USB Data Transfer</a:t>
            </a:r>
            <a:endParaRPr dirty="0"/>
          </a:p>
        </p:txBody>
      </p:sp>
      <p:sp>
        <p:nvSpPr>
          <p:cNvPr id="250" name="Google Shape;250;p22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30576-D445-4FD0-B7DC-034FD5890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036" y="1671637"/>
            <a:ext cx="5599341" cy="37328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50"/>
            </a:solidFill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5314" y="0"/>
            <a:ext cx="123199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571500" y="1865479"/>
            <a:ext cx="5286375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Description: Tracking internal discovery commands used by attackers to map system configurations and identify weaknesses.</a:t>
            </a:r>
            <a:endParaRPr dirty="0"/>
          </a:p>
        </p:txBody>
      </p:sp>
      <p:sp>
        <p:nvSpPr>
          <p:cNvPr id="243" name="Google Shape;243;p22"/>
          <p:cNvSpPr txBox="1"/>
          <p:nvPr/>
        </p:nvSpPr>
        <p:spPr>
          <a:xfrm>
            <a:off x="904875" y="3028268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MITRE: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T1082 - System Information Discovery | T1057 - Process Discovery.</a:t>
            </a:r>
            <a:endParaRPr dirty="0"/>
          </a:p>
        </p:txBody>
      </p:sp>
      <p:sp>
        <p:nvSpPr>
          <p:cNvPr id="244" name="Google Shape;244;p22"/>
          <p:cNvSpPr txBox="1"/>
          <p:nvPr/>
        </p:nvSpPr>
        <p:spPr>
          <a:xfrm>
            <a:off x="904875" y="3689577"/>
            <a:ext cx="5191126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Detection: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Monitoring PowerShell/CMD execution logs and real-time process monitoring events through Elastic Agent.</a:t>
            </a:r>
            <a:endParaRPr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904875" y="4420280"/>
            <a:ext cx="519112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Restricting user privileges, enabling command-line auditing, and isolating affected host nodes for investigation.</a:t>
            </a:r>
            <a:endParaRPr dirty="0"/>
          </a:p>
        </p:txBody>
      </p:sp>
      <p:pic>
        <p:nvPicPr>
          <p:cNvPr id="246" name="Google Shape;24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1606"/>
            <a:ext cx="111437" cy="20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2915"/>
            <a:ext cx="182523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53618"/>
            <a:ext cx="15871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Case </a:t>
            </a:r>
            <a:r>
              <a:rPr lang="ar-EG" sz="3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33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Windows Reconnaissance Commands Attack</a:t>
            </a:r>
            <a:endParaRPr dirty="0"/>
          </a:p>
        </p:txBody>
      </p:sp>
      <p:sp>
        <p:nvSpPr>
          <p:cNvPr id="250" name="Google Shape;250;p22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2764ED-5E44-4BB3-839C-1962248CCD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2850" y="1647824"/>
            <a:ext cx="5124775" cy="39120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5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173299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571500" y="2519362"/>
            <a:ext cx="528637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&lt; 2 min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90563" y="3676650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Mean Time to Detect (MTTD)</a:t>
            </a:r>
            <a:endParaRPr dirty="0"/>
          </a:p>
        </p:txBody>
      </p:sp>
      <p:sp>
        <p:nvSpPr>
          <p:cNvPr id="258" name="Google Shape;258;p23"/>
          <p:cNvSpPr txBox="1"/>
          <p:nvPr/>
        </p:nvSpPr>
        <p:spPr>
          <a:xfrm>
            <a:off x="6334125" y="251936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Efficiency Metrics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334125" y="307181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using the Elastic Stack, we achieved significant improvements in threat visibility and response speed.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667500" y="3757612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100% Log Coverage: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All critical Windows events ingested.</a:t>
            </a:r>
            <a:endParaRPr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6667499" y="4157662"/>
            <a:ext cx="5550693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 False Negatives: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All simulated attacks successfully alerted.</a:t>
            </a:r>
            <a:endParaRPr dirty="0"/>
          </a:p>
        </p:txBody>
      </p:sp>
      <p:sp>
        <p:nvSpPr>
          <p:cNvPr id="262" name="Google Shape;262;p23"/>
          <p:cNvSpPr txBox="1"/>
          <p:nvPr/>
        </p:nvSpPr>
        <p:spPr>
          <a:xfrm>
            <a:off x="6667500" y="4523343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99% Uptime: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High availability of the Dockerized SIEM.</a:t>
            </a:r>
            <a:endParaRPr/>
          </a:p>
        </p:txBody>
      </p:sp>
      <p:pic>
        <p:nvPicPr>
          <p:cNvPr id="263" name="Google Shape;26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790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1910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5910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Risk Assessment &amp; Performance KPIs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7150"/>
            <a:ext cx="12192000" cy="707843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878682" y="1338024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b="1" dirty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Kibana Security Dashboard</a:t>
            </a:r>
            <a:endParaRPr sz="2400" b="1" dirty="0">
              <a:solidFill>
                <a:srgbClr val="F8FAFC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878682" y="2381158"/>
            <a:ext cx="325599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rgbClr val="94A3B8"/>
                </a:solidFill>
                <a:latin typeface="Inter"/>
                <a:ea typeface="Inter"/>
              </a:rPr>
              <a:t>The Kibana dashboard provides:</a:t>
            </a:r>
            <a:br>
              <a:rPr lang="en-US" b="1" dirty="0">
                <a:solidFill>
                  <a:srgbClr val="94A3B8"/>
                </a:solidFill>
                <a:latin typeface="Inter"/>
                <a:ea typeface="Inter"/>
              </a:rPr>
            </a:br>
            <a:endParaRPr lang="en-US" b="1" dirty="0">
              <a:solidFill>
                <a:srgbClr val="94A3B8"/>
              </a:solidFill>
              <a:latin typeface="Inter"/>
              <a:ea typeface="Inter"/>
            </a:endParaRP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94A3B8"/>
                </a:solidFill>
                <a:latin typeface="Inter"/>
                <a:ea typeface="Inter"/>
              </a:rPr>
              <a:t>Security Overview</a:t>
            </a: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94A3B8"/>
                </a:solidFill>
                <a:latin typeface="Inter"/>
                <a:ea typeface="Inter"/>
              </a:rPr>
              <a:t>Alert Monitoring</a:t>
            </a: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94A3B8"/>
                </a:solidFill>
                <a:latin typeface="Inter"/>
                <a:ea typeface="Inter"/>
              </a:rPr>
              <a:t>Event Visualization</a:t>
            </a: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94A3B8"/>
                </a:solidFill>
                <a:latin typeface="Inter"/>
                <a:ea typeface="Inter"/>
              </a:rPr>
              <a:t>Host Monitoring</a:t>
            </a: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94A3B8"/>
                </a:solidFill>
                <a:latin typeface="Inter"/>
                <a:ea typeface="Inter"/>
              </a:rPr>
              <a:t>Timeline Investigation</a:t>
            </a:r>
          </a:p>
          <a:p>
            <a:pPr marL="342900" lvl="0" indent="-3429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94A3B8"/>
                </a:solidFill>
                <a:latin typeface="Inter"/>
                <a:ea typeface="Inter"/>
              </a:rPr>
              <a:t>Speed</a:t>
            </a:r>
          </a:p>
        </p:txBody>
      </p:sp>
      <p:sp>
        <p:nvSpPr>
          <p:cNvPr id="266" name="Google Shape;266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Risk Assessment &amp; Performance KPIs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E2EF8C-6B18-45A4-97B6-DC4916E0D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67" y="1969055"/>
            <a:ext cx="7670397" cy="40316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5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421305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0629" y="-89807"/>
            <a:ext cx="12409715" cy="701312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690563" y="3676650"/>
            <a:ext cx="52863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8" name="Google Shape;258;p23"/>
          <p:cNvSpPr txBox="1"/>
          <p:nvPr/>
        </p:nvSpPr>
        <p:spPr>
          <a:xfrm>
            <a:off x="6334125" y="2519362"/>
            <a:ext cx="555069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762000" y="1300841"/>
            <a:ext cx="4953000" cy="186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350" b="1" dirty="0">
                <a:solidFill>
                  <a:srgbClr val="94A3B8"/>
                </a:solidFill>
                <a:latin typeface="Inter"/>
                <a:ea typeface="Inter"/>
              </a:rPr>
              <a:t>Investigation steps:</a:t>
            </a:r>
            <a:br>
              <a:rPr lang="en-US" sz="1350" b="1" dirty="0">
                <a:solidFill>
                  <a:srgbClr val="94A3B8"/>
                </a:solidFill>
                <a:latin typeface="Inter"/>
                <a:ea typeface="Inter"/>
              </a:rPr>
            </a:br>
            <a:endParaRPr lang="en-US" sz="1350" b="1" dirty="0">
              <a:solidFill>
                <a:srgbClr val="94A3B8"/>
              </a:solidFill>
              <a:latin typeface="Inter"/>
              <a:ea typeface="Inter"/>
            </a:endParaRPr>
          </a:p>
          <a:p>
            <a:pPr marL="285750" lvl="0" indent="-28575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Alert Received</a:t>
            </a:r>
          </a:p>
          <a:p>
            <a:pPr marL="285750" lvl="0" indent="-28575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Event Review</a:t>
            </a:r>
          </a:p>
          <a:p>
            <a:pPr marL="285750" lvl="0" indent="-28575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Timeline Analysis</a:t>
            </a:r>
          </a:p>
          <a:p>
            <a:pPr marL="285750" lvl="0" indent="-28575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Threat Validation</a:t>
            </a:r>
          </a:p>
          <a:p>
            <a:pPr marL="285750" lvl="0" indent="-28575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Root Cause Analysis</a:t>
            </a:r>
          </a:p>
          <a:p>
            <a:pPr marL="285750" lvl="0" indent="-28575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Incident Response</a:t>
            </a:r>
          </a:p>
          <a:p>
            <a:pPr marL="285750" lvl="0" indent="-28575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Documentation</a:t>
            </a:r>
          </a:p>
        </p:txBody>
      </p:sp>
      <p:sp>
        <p:nvSpPr>
          <p:cNvPr id="266" name="Google Shape;266;p23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Incident investigation </a:t>
            </a:r>
            <a:endParaRPr dirty="0"/>
          </a:p>
        </p:txBody>
      </p:sp>
      <p:sp>
        <p:nvSpPr>
          <p:cNvPr id="267" name="Google Shape;267;p23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E12EBD-1412-494F-8FED-D19441C93E9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3499" y="3285274"/>
            <a:ext cx="5286375" cy="29195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50"/>
            </a:solidFill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F47250-7AEE-406C-B646-1667D9E60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001" y="3246902"/>
            <a:ext cx="5524499" cy="29579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5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877160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5315"/>
            <a:ext cx="12192000" cy="700495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 dirty="0"/>
          </a:p>
        </p:txBody>
      </p:sp>
      <p:sp>
        <p:nvSpPr>
          <p:cNvPr id="267" name="Google Shape;267;p23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8EC5A-AEB8-4A12-8BB8-86BEE19A8CD0}"/>
              </a:ext>
            </a:extLst>
          </p:cNvPr>
          <p:cNvSpPr txBox="1"/>
          <p:nvPr/>
        </p:nvSpPr>
        <p:spPr>
          <a:xfrm>
            <a:off x="619126" y="1828801"/>
            <a:ext cx="1069823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This project demonstrates the implementation of a Mini SOC architecture using the Elastic Stack for centralized monitoring and threat detection.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system successfully collects logs, detects malicious activities, generates alerts, and supports incident investigation through Kibana dashboards and Elastic Security.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project highlights the importance of SIEM solutions in improving cybersecurity visibility and incident response capabilities.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7D27ED-5494-442F-BF68-E1E07D26B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5342" y="5133412"/>
            <a:ext cx="4385799" cy="102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21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3479" y="0"/>
            <a:ext cx="1232807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295275" y="1971675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71500" y="32099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 for your attention!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71500" y="40290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Elastic Stack Based SOC Project | DEPI 2026</a:t>
            </a:r>
            <a:endParaRPr dirty="0"/>
          </a:p>
        </p:txBody>
      </p:sp>
      <p:sp>
        <p:nvSpPr>
          <p:cNvPr id="276" name="Google Shape;276;p24"/>
          <p:cNvSpPr txBox="1"/>
          <p:nvPr/>
        </p:nvSpPr>
        <p:spPr>
          <a:xfrm>
            <a:off x="571500" y="445770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Supervisor: Osama AbdelAzim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1031</Words>
  <Application>Microsoft Office PowerPoint</Application>
  <PresentationFormat>Widescreen</PresentationFormat>
  <Paragraphs>117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Urbanist</vt:lpstr>
      <vt:lpstr>Arial</vt:lpstr>
      <vt:lpstr>Calibri</vt:lpstr>
      <vt:lpstr>Inter</vt:lpstr>
      <vt:lpstr>Wingdings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Karim Nagy Hassan Abdelwahab</cp:lastModifiedBy>
  <cp:revision>38</cp:revision>
  <dcterms:modified xsi:type="dcterms:W3CDTF">2026-05-21T17:22:35Z</dcterms:modified>
</cp:coreProperties>
</file>